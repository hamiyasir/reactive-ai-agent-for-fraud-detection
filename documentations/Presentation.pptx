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63" r:id="rId4"/>
    <p:sldId id="258" r:id="rId5"/>
    <p:sldId id="259" r:id="rId6"/>
    <p:sldId id="260" r:id="rId7"/>
    <p:sldId id="261" r:id="rId8"/>
    <p:sldId id="262" r:id="rId9"/>
    <p:sldId id="265" r:id="rId10"/>
    <p:sldId id="264"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648"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283E6D80-CBC8-477A-B2BA-A00672C96996}" type="datetimeFigureOut">
              <a:rPr lang="en-US" smtClean="0"/>
              <a:t>4/16/2025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AE35359-EE89-4BEA-87EE-EC89693BCB98}" type="slidenum">
              <a:rPr lang="en-US" smtClean="0"/>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283E6D80-CBC8-477A-B2BA-A00672C96996}"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3AE35359-EE89-4BEA-87EE-EC89693BCB98}" type="slidenum">
              <a:rPr lang="en-US" smtClean="0"/>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283E6D80-CBC8-477A-B2BA-A00672C96996}" type="datetimeFigureOut">
              <a:rPr lang="en-US" smtClean="0"/>
              <a:t>4/16/2025</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AE35359-EE89-4BEA-87EE-EC89693BCB98}" type="slidenum">
              <a:rPr lang="en-US" smtClean="0"/>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283E6D80-CBC8-477A-B2BA-A00672C96996}"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35359-EE89-4BEA-87EE-EC89693BCB98}" type="slidenum">
              <a:rPr lang="en-US" smtClean="0"/>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283E6D80-CBC8-477A-B2BA-A00672C96996}" type="datetimeFigureOut">
              <a:rPr lang="en-US" smtClean="0"/>
              <a:t>4/16/2025</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3AE35359-EE89-4BEA-87EE-EC89693BCB98}"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283E6D80-CBC8-477A-B2BA-A00672C96996}"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3AE35359-EE89-4BEA-87EE-EC89693BCB9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283E6D80-CBC8-477A-B2BA-A00672C96996}"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AE35359-EE89-4BEA-87EE-EC89693BCB9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AE35359-EE89-4BEA-87EE-EC89693BCB98}" type="slidenum">
              <a:rPr lang="en-US" smtClean="0"/>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283E6D80-CBC8-477A-B2BA-A00672C96996}" type="datetimeFigureOut">
              <a:rPr lang="en-US" smtClean="0"/>
              <a:t>4/16/2025</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3AE35359-EE89-4BEA-87EE-EC89693BCB98}" type="slidenum">
              <a:rPr lang="en-US" smtClean="0"/>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283E6D80-CBC8-477A-B2BA-A00672C96996}" type="datetimeFigureOut">
              <a:rPr lang="en-US" smtClean="0"/>
              <a:t>4/16/2025</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83E6D80-CBC8-477A-B2BA-A00672C96996}"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35359-EE89-4BEA-87EE-EC89693BCB9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3AE35359-EE89-4BEA-87EE-EC89693BCB98}" type="slidenum">
              <a:rPr lang="en-US" smtClean="0"/>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83E6D80-CBC8-477A-B2BA-A00672C96996}"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283E6D80-CBC8-477A-B2BA-A00672C96996}" type="datetimeFigureOut">
              <a:rPr lang="en-US" smtClean="0"/>
              <a:t>4/16/2025</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AE35359-EE89-4BEA-87EE-EC89693BCB98}" type="slidenum">
              <a:rPr lang="en-US" smtClean="0"/>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3505200"/>
            <a:ext cx="6400800" cy="2133600"/>
          </a:xfrm>
        </p:spPr>
        <p:txBody>
          <a:bodyPr>
            <a:normAutofit/>
          </a:bodyPr>
          <a:lstStyle/>
          <a:p>
            <a:r>
              <a:rPr lang="en-US" dirty="0">
                <a:latin typeface="Arial" pitchFamily="34" charset="0"/>
                <a:cs typeface="Arial" pitchFamily="34" charset="0"/>
              </a:rPr>
              <a:t>DONE BY</a:t>
            </a:r>
          </a:p>
          <a:p>
            <a:endParaRPr lang="en-US" dirty="0">
              <a:latin typeface="Arial" pitchFamily="34" charset="0"/>
              <a:cs typeface="Arial" pitchFamily="34" charset="0"/>
            </a:endParaRPr>
          </a:p>
          <a:p>
            <a:r>
              <a:rPr lang="en-US" dirty="0">
                <a:latin typeface="Arial" pitchFamily="34" charset="0"/>
                <a:cs typeface="Arial" pitchFamily="34" charset="0"/>
              </a:rPr>
              <a:t>HAMI YASIR </a:t>
            </a:r>
          </a:p>
          <a:p>
            <a:r>
              <a:rPr lang="en-US" dirty="0">
                <a:latin typeface="Arial" pitchFamily="34" charset="0"/>
                <a:cs typeface="Arial" pitchFamily="34" charset="0"/>
              </a:rPr>
              <a:t>24MCA1020</a:t>
            </a:r>
          </a:p>
          <a:p>
            <a:endParaRPr lang="en-US" dirty="0">
              <a:latin typeface="Arial" pitchFamily="34" charset="0"/>
              <a:cs typeface="Arial" pitchFamily="34" charset="0"/>
            </a:endParaRPr>
          </a:p>
          <a:p>
            <a:r>
              <a:rPr lang="en-US" dirty="0">
                <a:latin typeface="Arial" pitchFamily="34" charset="0"/>
                <a:cs typeface="Arial" pitchFamily="34" charset="0"/>
              </a:rPr>
              <a:t>MOHAMMED ARSHAD M</a:t>
            </a:r>
          </a:p>
          <a:p>
            <a:r>
              <a:rPr lang="en-US" dirty="0">
                <a:latin typeface="Arial" pitchFamily="34" charset="0"/>
                <a:cs typeface="Arial" pitchFamily="34" charset="0"/>
              </a:rPr>
              <a:t>24MCA1011</a:t>
            </a:r>
          </a:p>
          <a:p>
            <a:endParaRPr lang="en-US" dirty="0"/>
          </a:p>
        </p:txBody>
      </p:sp>
      <p:sp>
        <p:nvSpPr>
          <p:cNvPr id="2" name="Title 1"/>
          <p:cNvSpPr>
            <a:spLocks noGrp="1"/>
          </p:cNvSpPr>
          <p:nvPr>
            <p:ph type="ctrTitle"/>
          </p:nvPr>
        </p:nvSpPr>
        <p:spPr/>
        <p:txBody>
          <a:bodyPr/>
          <a:lstStyle/>
          <a:p>
            <a:r>
              <a:rPr lang="en-US" dirty="0"/>
              <a:t>Reactive AI Agent for Fraud Detection</a:t>
            </a:r>
          </a:p>
        </p:txBody>
      </p:sp>
    </p:spTree>
    <p:extLst>
      <p:ext uri="{BB962C8B-B14F-4D97-AF65-F5344CB8AC3E}">
        <p14:creationId xmlns:p14="http://schemas.microsoft.com/office/powerpoint/2010/main" val="2095608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sz="quarter" idx="1"/>
          </p:nvPr>
        </p:nvSpPr>
        <p:spPr/>
        <p:txBody>
          <a:bodyPr>
            <a:normAutofit/>
          </a:bodyPr>
          <a:lstStyle/>
          <a:p>
            <a:r>
              <a:rPr lang="en-US" dirty="0">
                <a:latin typeface="Arial" pitchFamily="34" charset="0"/>
                <a:cs typeface="Arial" pitchFamily="34" charset="0"/>
              </a:rPr>
              <a:t>Financial fraud is a major challenge in today’s digital world. With millions of transactions happening every second, detecting suspicious activity in real time is crucial to protect users and prevent financial losses.</a:t>
            </a:r>
          </a:p>
          <a:p>
            <a:pPr marL="0" indent="0">
              <a:buNone/>
            </a:pPr>
            <a:endParaRPr lang="en-US" b="1" dirty="0">
              <a:latin typeface="Arial" pitchFamily="34" charset="0"/>
              <a:cs typeface="Arial" pitchFamily="34" charset="0"/>
            </a:endParaRPr>
          </a:p>
          <a:p>
            <a:r>
              <a:rPr lang="en-US" dirty="0">
                <a:latin typeface="Arial" pitchFamily="34" charset="0"/>
                <a:cs typeface="Arial" pitchFamily="34" charset="0"/>
              </a:rPr>
              <a:t>Traditional rule-based systems are often slow and inflexible. Artificial Intelligence allows systems to learn patterns of fraud and adapt to new, unseen fraudulent behaviors with high accuracy. AI makes fraud detection faster, smarter, and more reliable.</a:t>
            </a:r>
          </a:p>
          <a:p>
            <a:endParaRPr lang="en-US" dirty="0"/>
          </a:p>
        </p:txBody>
      </p:sp>
    </p:spTree>
    <p:extLst>
      <p:ext uri="{BB962C8B-B14F-4D97-AF65-F5344CB8AC3E}">
        <p14:creationId xmlns:p14="http://schemas.microsoft.com/office/powerpoint/2010/main" val="1777586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Goal</a:t>
            </a:r>
          </a:p>
        </p:txBody>
      </p:sp>
      <p:sp>
        <p:nvSpPr>
          <p:cNvPr id="3" name="Content Placeholder 2"/>
          <p:cNvSpPr>
            <a:spLocks noGrp="1"/>
          </p:cNvSpPr>
          <p:nvPr>
            <p:ph sz="quarter" idx="1"/>
          </p:nvPr>
        </p:nvSpPr>
        <p:spPr/>
        <p:txBody>
          <a:bodyPr/>
          <a:lstStyle/>
          <a:p>
            <a:pPr marL="0" indent="0">
              <a:buNone/>
            </a:pPr>
            <a:r>
              <a:rPr lang="en-US" dirty="0">
                <a:latin typeface="Arial" pitchFamily="34" charset="0"/>
                <a:cs typeface="Arial" pitchFamily="34" charset="0"/>
              </a:rPr>
              <a:t>To develop a </a:t>
            </a:r>
            <a:r>
              <a:rPr lang="en-US" b="1" dirty="0">
                <a:latin typeface="Arial" pitchFamily="34" charset="0"/>
                <a:cs typeface="Arial" pitchFamily="34" charset="0"/>
              </a:rPr>
              <a:t>Reactive AI Agent</a:t>
            </a:r>
            <a:r>
              <a:rPr lang="en-US" dirty="0">
                <a:latin typeface="Arial" pitchFamily="34" charset="0"/>
                <a:cs typeface="Arial" pitchFamily="34" charset="0"/>
              </a:rPr>
              <a:t> that:</a:t>
            </a:r>
          </a:p>
          <a:p>
            <a:endParaRPr lang="en-US" dirty="0">
              <a:latin typeface="Arial" pitchFamily="34" charset="0"/>
              <a:cs typeface="Arial" pitchFamily="34" charset="0"/>
            </a:endParaRPr>
          </a:p>
          <a:p>
            <a:r>
              <a:rPr lang="en-US" dirty="0">
                <a:latin typeface="Arial" pitchFamily="34" charset="0"/>
                <a:cs typeface="Arial" pitchFamily="34" charset="0"/>
              </a:rPr>
              <a:t>Continuously processes a stream of credit card transactions</a:t>
            </a:r>
          </a:p>
          <a:p>
            <a:r>
              <a:rPr lang="en-US" dirty="0">
                <a:latin typeface="Arial" pitchFamily="34" charset="0"/>
                <a:cs typeface="Arial" pitchFamily="34" charset="0"/>
              </a:rPr>
              <a:t>Predicts whether a transaction is fraudulent using an ML model (</a:t>
            </a:r>
            <a:r>
              <a:rPr lang="en-US" dirty="0" err="1">
                <a:latin typeface="Arial" pitchFamily="34" charset="0"/>
                <a:cs typeface="Arial" pitchFamily="34" charset="0"/>
              </a:rPr>
              <a:t>XGBoost</a:t>
            </a:r>
            <a:r>
              <a:rPr lang="en-US" dirty="0">
                <a:latin typeface="Arial" pitchFamily="34" charset="0"/>
                <a:cs typeface="Arial" pitchFamily="34" charset="0"/>
              </a:rPr>
              <a:t>)</a:t>
            </a:r>
          </a:p>
          <a:p>
            <a:r>
              <a:rPr lang="en-US" dirty="0">
                <a:latin typeface="Arial" pitchFamily="34" charset="0"/>
                <a:cs typeface="Arial" pitchFamily="34" charset="0"/>
              </a:rPr>
              <a:t>Instantly takes action by sending fraud alert emails and updating a real-time web dashboard</a:t>
            </a:r>
          </a:p>
          <a:p>
            <a:endParaRPr lang="en-US" dirty="0"/>
          </a:p>
        </p:txBody>
      </p:sp>
    </p:spTree>
    <p:extLst>
      <p:ext uri="{BB962C8B-B14F-4D97-AF65-F5344CB8AC3E}">
        <p14:creationId xmlns:p14="http://schemas.microsoft.com/office/powerpoint/2010/main" val="401834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Components</a:t>
            </a:r>
          </a:p>
        </p:txBody>
      </p:sp>
      <p:sp>
        <p:nvSpPr>
          <p:cNvPr id="3" name="Content Placeholder 2"/>
          <p:cNvSpPr>
            <a:spLocks noGrp="1"/>
          </p:cNvSpPr>
          <p:nvPr>
            <p:ph sz="quarter" idx="1"/>
          </p:nvPr>
        </p:nvSpPr>
        <p:spPr/>
        <p:txBody>
          <a:bodyPr/>
          <a:lstStyle/>
          <a:p>
            <a:pPr marL="0" indent="0">
              <a:buNone/>
            </a:pPr>
            <a:r>
              <a:rPr lang="en-US" b="1" dirty="0">
                <a:latin typeface="Arial" pitchFamily="34" charset="0"/>
                <a:cs typeface="Arial" pitchFamily="34" charset="0"/>
              </a:rPr>
              <a:t>Artificial Intelligence:</a:t>
            </a:r>
          </a:p>
          <a:p>
            <a:r>
              <a:rPr lang="en-US" sz="2400" dirty="0">
                <a:latin typeface="Arial" pitchFamily="34" charset="0"/>
                <a:cs typeface="Arial" pitchFamily="34" charset="0"/>
              </a:rPr>
              <a:t>The overall project will be a </a:t>
            </a:r>
            <a:r>
              <a:rPr lang="en-US" sz="2400" b="1" u="sng" dirty="0">
                <a:latin typeface="Arial" pitchFamily="34" charset="0"/>
                <a:cs typeface="Arial" pitchFamily="34" charset="0"/>
              </a:rPr>
              <a:t>Reactive AI Agent  </a:t>
            </a:r>
            <a:r>
              <a:rPr lang="en-US" sz="2400" dirty="0">
                <a:latin typeface="Arial" pitchFamily="34" charset="0"/>
                <a:cs typeface="Arial" pitchFamily="34" charset="0"/>
              </a:rPr>
              <a:t>where Environment is a stream of transactions that the AI Agent will be processing</a:t>
            </a:r>
          </a:p>
          <a:p>
            <a:r>
              <a:rPr lang="en-US" sz="2400" dirty="0">
                <a:latin typeface="Arial" pitchFamily="34" charset="0"/>
                <a:cs typeface="Arial" pitchFamily="34" charset="0"/>
              </a:rPr>
              <a:t> Inferences will be made using an </a:t>
            </a:r>
            <a:r>
              <a:rPr lang="en-US" sz="2400" dirty="0" err="1">
                <a:latin typeface="Arial" pitchFamily="34" charset="0"/>
                <a:cs typeface="Arial" pitchFamily="34" charset="0"/>
              </a:rPr>
              <a:t>XGBoost</a:t>
            </a:r>
            <a:r>
              <a:rPr lang="en-US" sz="2400" dirty="0">
                <a:latin typeface="Arial" pitchFamily="34" charset="0"/>
                <a:cs typeface="Arial" pitchFamily="34" charset="0"/>
              </a:rPr>
              <a:t> model trained to detect </a:t>
            </a:r>
            <a:r>
              <a:rPr lang="en-US" sz="2400" dirty="0" err="1">
                <a:latin typeface="Arial" pitchFamily="34" charset="0"/>
                <a:cs typeface="Arial" pitchFamily="34" charset="0"/>
              </a:rPr>
              <a:t>fraudeulent</a:t>
            </a:r>
            <a:r>
              <a:rPr lang="en-US" sz="2400" dirty="0">
                <a:latin typeface="Arial" pitchFamily="34" charset="0"/>
                <a:cs typeface="Arial" pitchFamily="34" charset="0"/>
              </a:rPr>
              <a:t> transactions </a:t>
            </a:r>
          </a:p>
          <a:p>
            <a:r>
              <a:rPr lang="en-US" sz="2400" dirty="0">
                <a:latin typeface="Arial" pitchFamily="34" charset="0"/>
                <a:cs typeface="Arial" pitchFamily="34" charset="0"/>
              </a:rPr>
              <a:t>Action will be taken in the form of mail sent from AI Agent Email to a Client Email when a fraudulent transaction is detected. </a:t>
            </a:r>
          </a:p>
        </p:txBody>
      </p:sp>
    </p:spTree>
    <p:extLst>
      <p:ext uri="{BB962C8B-B14F-4D97-AF65-F5344CB8AC3E}">
        <p14:creationId xmlns:p14="http://schemas.microsoft.com/office/powerpoint/2010/main" val="3181264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Components</a:t>
            </a:r>
          </a:p>
        </p:txBody>
      </p:sp>
      <p:sp>
        <p:nvSpPr>
          <p:cNvPr id="3" name="Content Placeholder 2"/>
          <p:cNvSpPr>
            <a:spLocks noGrp="1"/>
          </p:cNvSpPr>
          <p:nvPr>
            <p:ph sz="quarter" idx="1"/>
          </p:nvPr>
        </p:nvSpPr>
        <p:spPr/>
        <p:txBody>
          <a:bodyPr/>
          <a:lstStyle/>
          <a:p>
            <a:r>
              <a:rPr lang="en-US" b="1" dirty="0">
                <a:latin typeface="Arial" pitchFamily="34" charset="0"/>
                <a:cs typeface="Arial" pitchFamily="34" charset="0"/>
              </a:rPr>
              <a:t>Java:</a:t>
            </a:r>
          </a:p>
          <a:p>
            <a:pPr marL="0" indent="0">
              <a:buNone/>
            </a:pPr>
            <a:r>
              <a:rPr lang="en-US" dirty="0">
                <a:latin typeface="Arial" pitchFamily="34" charset="0"/>
                <a:cs typeface="Arial" pitchFamily="34" charset="0"/>
              </a:rPr>
              <a:t>We will be using </a:t>
            </a:r>
            <a:r>
              <a:rPr lang="en-US" dirty="0" err="1">
                <a:latin typeface="Arial" pitchFamily="34" charset="0"/>
                <a:cs typeface="Arial" pitchFamily="34" charset="0"/>
              </a:rPr>
              <a:t>SpringBoot</a:t>
            </a:r>
            <a:r>
              <a:rPr lang="en-US" dirty="0">
                <a:latin typeface="Arial" pitchFamily="34" charset="0"/>
                <a:cs typeface="Arial" pitchFamily="34" charset="0"/>
              </a:rPr>
              <a:t> as middleware   between frontend and backend. ‘Kafka’ a Java Technology is used for Data stream from producer to consumer.</a:t>
            </a:r>
          </a:p>
          <a:p>
            <a:pPr marL="0" indent="0">
              <a:buNone/>
            </a:pPr>
            <a:endParaRPr lang="en-US" b="1" dirty="0">
              <a:latin typeface="Arial" pitchFamily="34" charset="0"/>
              <a:cs typeface="Arial" pitchFamily="34" charset="0"/>
            </a:endParaRPr>
          </a:p>
          <a:p>
            <a:pPr marL="0" indent="0">
              <a:buNone/>
            </a:pPr>
            <a:r>
              <a:rPr lang="en-US" b="1" dirty="0">
                <a:latin typeface="Arial" pitchFamily="34" charset="0"/>
                <a:cs typeface="Arial" pitchFamily="34" charset="0"/>
              </a:rPr>
              <a:t>Machine Learning:</a:t>
            </a:r>
          </a:p>
          <a:p>
            <a:pPr marL="0" indent="0">
              <a:buNone/>
            </a:pPr>
            <a:r>
              <a:rPr lang="en-US" dirty="0">
                <a:latin typeface="Arial" pitchFamily="34" charset="0"/>
                <a:cs typeface="Arial" pitchFamily="34" charset="0"/>
              </a:rPr>
              <a:t>We trained  a model (</a:t>
            </a:r>
            <a:r>
              <a:rPr lang="en-US" dirty="0" err="1">
                <a:latin typeface="Arial" pitchFamily="34" charset="0"/>
                <a:cs typeface="Arial" pitchFamily="34" charset="0"/>
              </a:rPr>
              <a:t>XGBoost</a:t>
            </a:r>
            <a:r>
              <a:rPr lang="en-US" dirty="0">
                <a:latin typeface="Arial" pitchFamily="34" charset="0"/>
                <a:cs typeface="Arial" pitchFamily="34" charset="0"/>
              </a:rPr>
              <a:t>) to detect fraudulent transaction based on </a:t>
            </a:r>
            <a:r>
              <a:rPr lang="en-US" dirty="0" err="1">
                <a:latin typeface="Arial" pitchFamily="34" charset="0"/>
                <a:cs typeface="Arial" pitchFamily="34" charset="0"/>
              </a:rPr>
              <a:t>anonymised</a:t>
            </a:r>
            <a:r>
              <a:rPr lang="en-US" dirty="0">
                <a:latin typeface="Arial" pitchFamily="34" charset="0"/>
                <a:cs typeface="Arial" pitchFamily="34" charset="0"/>
              </a:rPr>
              <a:t> credit card transaction dataset.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83386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p>
        </p:txBody>
      </p:sp>
      <p:sp>
        <p:nvSpPr>
          <p:cNvPr id="3" name="Content Placeholder 2"/>
          <p:cNvSpPr>
            <a:spLocks noGrp="1"/>
          </p:cNvSpPr>
          <p:nvPr>
            <p:ph sz="quarter" idx="1"/>
          </p:nvPr>
        </p:nvSpPr>
        <p:spPr/>
        <p:txBody>
          <a:bodyPr/>
          <a:lstStyle/>
          <a:p>
            <a:endParaRPr lang="en-US"/>
          </a:p>
        </p:txBody>
      </p:sp>
      <p:pic>
        <p:nvPicPr>
          <p:cNvPr id="1026" name="Picture 2" descr="D:\ars\Telegram Desktop\photo_2025-04-16_12-11-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0"/>
            <a:ext cx="83820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59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WORKFLOW</a:t>
            </a:r>
          </a:p>
        </p:txBody>
      </p:sp>
      <p:sp>
        <p:nvSpPr>
          <p:cNvPr id="3" name="Content Placeholder 2"/>
          <p:cNvSpPr>
            <a:spLocks noGrp="1"/>
          </p:cNvSpPr>
          <p:nvPr>
            <p:ph sz="quarter" idx="1"/>
          </p:nvPr>
        </p:nvSpPr>
        <p:spPr/>
        <p:txBody>
          <a:bodyPr>
            <a:normAutofit fontScale="85000" lnSpcReduction="10000"/>
          </a:bodyPr>
          <a:lstStyle/>
          <a:p>
            <a:r>
              <a:rPr lang="en-US" b="1" dirty="0">
                <a:latin typeface="Arial" pitchFamily="34" charset="0"/>
                <a:cs typeface="Arial" pitchFamily="34" charset="0"/>
              </a:rPr>
              <a:t> Step 1</a:t>
            </a:r>
            <a:r>
              <a:rPr lang="en-US" dirty="0">
                <a:latin typeface="Arial" pitchFamily="34" charset="0"/>
                <a:cs typeface="Arial" pitchFamily="34" charset="0"/>
              </a:rPr>
              <a:t>: Data from creditcard_test.csv that contains transaction data is fed into Kafka Producer. The data is supposed to simulate transactions that happens in real time. </a:t>
            </a:r>
          </a:p>
          <a:p>
            <a:r>
              <a:rPr lang="en-US" b="1" dirty="0">
                <a:latin typeface="Arial" pitchFamily="34" charset="0"/>
                <a:cs typeface="Arial" pitchFamily="34" charset="0"/>
              </a:rPr>
              <a:t>Step 2</a:t>
            </a:r>
            <a:r>
              <a:rPr lang="en-US" dirty="0">
                <a:latin typeface="Arial" pitchFamily="34" charset="0"/>
                <a:cs typeface="Arial" pitchFamily="34" charset="0"/>
              </a:rPr>
              <a:t>: Kafka Producer(stream_to_producer.py) sends the transactions row by row to a Kafka topic broker </a:t>
            </a:r>
            <a:r>
              <a:rPr lang="en-US" dirty="0" err="1">
                <a:latin typeface="Arial" pitchFamily="34" charset="0"/>
                <a:cs typeface="Arial" pitchFamily="34" charset="0"/>
              </a:rPr>
              <a:t>fraud_transactions</a:t>
            </a:r>
            <a:r>
              <a:rPr lang="en-US" dirty="0">
                <a:latin typeface="Arial" pitchFamily="34" charset="0"/>
                <a:cs typeface="Arial" pitchFamily="34" charset="0"/>
              </a:rPr>
              <a:t> every second. This simulates a real time stream of transactions. </a:t>
            </a:r>
          </a:p>
          <a:p>
            <a:r>
              <a:rPr lang="en-US" b="1" dirty="0">
                <a:latin typeface="Arial" pitchFamily="34" charset="0"/>
                <a:cs typeface="Arial" pitchFamily="34" charset="0"/>
              </a:rPr>
              <a:t>Step 3</a:t>
            </a:r>
            <a:r>
              <a:rPr lang="en-US" dirty="0">
                <a:latin typeface="Arial" pitchFamily="34" charset="0"/>
                <a:cs typeface="Arial" pitchFamily="34" charset="0"/>
              </a:rPr>
              <a:t>: Kafka Consumer(stream_to_consumer.py) is subscribed to </a:t>
            </a:r>
            <a:r>
              <a:rPr lang="en-US" dirty="0" err="1">
                <a:latin typeface="Arial" pitchFamily="34" charset="0"/>
                <a:cs typeface="Arial" pitchFamily="34" charset="0"/>
              </a:rPr>
              <a:t>fraud_transactions</a:t>
            </a:r>
            <a:r>
              <a:rPr lang="en-US" dirty="0">
                <a:latin typeface="Arial" pitchFamily="34" charset="0"/>
                <a:cs typeface="Arial" pitchFamily="34" charset="0"/>
              </a:rPr>
              <a:t>. This makes it so that the transactions received by the broker is extracted by Kafka Consumer.</a:t>
            </a:r>
          </a:p>
          <a:p>
            <a:r>
              <a:rPr lang="en-US" dirty="0">
                <a:latin typeface="Arial" pitchFamily="34" charset="0"/>
                <a:cs typeface="Arial" pitchFamily="34" charset="0"/>
              </a:rPr>
              <a:t> </a:t>
            </a:r>
            <a:r>
              <a:rPr lang="en-US" b="1" dirty="0">
                <a:latin typeface="Arial" pitchFamily="34" charset="0"/>
                <a:cs typeface="Arial" pitchFamily="34" charset="0"/>
              </a:rPr>
              <a:t>Step 4</a:t>
            </a:r>
            <a:r>
              <a:rPr lang="en-US" dirty="0">
                <a:latin typeface="Arial" pitchFamily="34" charset="0"/>
                <a:cs typeface="Arial" pitchFamily="34" charset="0"/>
              </a:rPr>
              <a:t>: An </a:t>
            </a:r>
            <a:r>
              <a:rPr lang="en-US" dirty="0" err="1">
                <a:latin typeface="Arial" pitchFamily="34" charset="0"/>
                <a:cs typeface="Arial" pitchFamily="34" charset="0"/>
              </a:rPr>
              <a:t>XGBoost</a:t>
            </a:r>
            <a:r>
              <a:rPr lang="en-US" dirty="0">
                <a:latin typeface="Arial" pitchFamily="34" charset="0"/>
                <a:cs typeface="Arial" pitchFamily="34" charset="0"/>
              </a:rPr>
              <a:t> Model is trained on </a:t>
            </a:r>
            <a:r>
              <a:rPr lang="en-US" dirty="0" err="1">
                <a:latin typeface="Arial" pitchFamily="34" charset="0"/>
                <a:cs typeface="Arial" pitchFamily="34" charset="0"/>
              </a:rPr>
              <a:t>creditcard</a:t>
            </a:r>
            <a:r>
              <a:rPr lang="en-US" dirty="0">
                <a:latin typeface="Arial" pitchFamily="34" charset="0"/>
                <a:cs typeface="Arial" pitchFamily="34" charset="0"/>
              </a:rPr>
              <a:t> dataset to predict fraudulent transactions..</a:t>
            </a:r>
          </a:p>
        </p:txBody>
      </p:sp>
    </p:spTree>
    <p:extLst>
      <p:ext uri="{BB962C8B-B14F-4D97-AF65-F5344CB8AC3E}">
        <p14:creationId xmlns:p14="http://schemas.microsoft.com/office/powerpoint/2010/main" val="3704189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WORKFLOW</a:t>
            </a:r>
          </a:p>
        </p:txBody>
      </p:sp>
      <p:sp>
        <p:nvSpPr>
          <p:cNvPr id="3" name="Content Placeholder 2"/>
          <p:cNvSpPr>
            <a:spLocks noGrp="1"/>
          </p:cNvSpPr>
          <p:nvPr>
            <p:ph sz="quarter" idx="1"/>
          </p:nvPr>
        </p:nvSpPr>
        <p:spPr/>
        <p:txBody>
          <a:bodyPr>
            <a:normAutofit fontScale="77500" lnSpcReduction="20000"/>
          </a:bodyPr>
          <a:lstStyle/>
          <a:p>
            <a:r>
              <a:rPr lang="en-US" b="1" dirty="0">
                <a:latin typeface="Arial" pitchFamily="34" charset="0"/>
                <a:cs typeface="Arial" pitchFamily="34" charset="0"/>
              </a:rPr>
              <a:t>Step 5</a:t>
            </a:r>
            <a:r>
              <a:rPr lang="en-US" dirty="0">
                <a:latin typeface="Arial" pitchFamily="34" charset="0"/>
                <a:cs typeface="Arial" pitchFamily="34" charset="0"/>
              </a:rPr>
              <a:t>: The transactions extracted by Kafka Consumer is sent to the trained model using Flask API(app.py) which returns a probability and whether the transaction was fraudulent or not. </a:t>
            </a:r>
          </a:p>
          <a:p>
            <a:r>
              <a:rPr lang="en-US" b="1" dirty="0">
                <a:latin typeface="Arial" pitchFamily="34" charset="0"/>
                <a:cs typeface="Arial" pitchFamily="34" charset="0"/>
              </a:rPr>
              <a:t>Step 6</a:t>
            </a:r>
            <a:r>
              <a:rPr lang="en-US" dirty="0">
                <a:latin typeface="Arial" pitchFamily="34" charset="0"/>
                <a:cs typeface="Arial" pitchFamily="34" charset="0"/>
              </a:rPr>
              <a:t>: If the transaction was fraudulent, then an email is sent from an AI Agent Email(fraud.detection.agent.2024@gmail.com) to a client email(fraud.detection.client.2024@gmail.com) using SMTP protocol.</a:t>
            </a:r>
          </a:p>
          <a:p>
            <a:r>
              <a:rPr lang="en-US" b="1" dirty="0">
                <a:latin typeface="Arial" pitchFamily="34" charset="0"/>
                <a:cs typeface="Arial" pitchFamily="34" charset="0"/>
              </a:rPr>
              <a:t> Step 7</a:t>
            </a:r>
            <a:r>
              <a:rPr lang="en-US" dirty="0">
                <a:latin typeface="Arial" pitchFamily="34" charset="0"/>
                <a:cs typeface="Arial" pitchFamily="34" charset="0"/>
              </a:rPr>
              <a:t>: The transaction data received by Kafka Consumer and the prediction is also sent to a </a:t>
            </a:r>
            <a:r>
              <a:rPr lang="en-US" dirty="0" err="1">
                <a:latin typeface="Arial" pitchFamily="34" charset="0"/>
                <a:cs typeface="Arial" pitchFamily="34" charset="0"/>
              </a:rPr>
              <a:t>SpringBoot</a:t>
            </a:r>
            <a:r>
              <a:rPr lang="en-US" dirty="0">
                <a:latin typeface="Arial" pitchFamily="34" charset="0"/>
                <a:cs typeface="Arial" pitchFamily="34" charset="0"/>
              </a:rPr>
              <a:t> REST API(FraudDetectionController.java). Using </a:t>
            </a:r>
            <a:r>
              <a:rPr lang="en-US" dirty="0" err="1">
                <a:latin typeface="Arial" pitchFamily="34" charset="0"/>
                <a:cs typeface="Arial" pitchFamily="34" charset="0"/>
              </a:rPr>
              <a:t>SimpMessagingTemplate</a:t>
            </a:r>
            <a:r>
              <a:rPr lang="en-US" dirty="0">
                <a:latin typeface="Arial" pitchFamily="34" charset="0"/>
                <a:cs typeface="Arial" pitchFamily="34" charset="0"/>
              </a:rPr>
              <a:t>, the </a:t>
            </a:r>
            <a:r>
              <a:rPr lang="en-US" dirty="0" err="1">
                <a:latin typeface="Arial" pitchFamily="34" charset="0"/>
                <a:cs typeface="Arial" pitchFamily="34" charset="0"/>
              </a:rPr>
              <a:t>SpringBoot</a:t>
            </a:r>
            <a:r>
              <a:rPr lang="en-US" dirty="0">
                <a:latin typeface="Arial" pitchFamily="34" charset="0"/>
                <a:cs typeface="Arial" pitchFamily="34" charset="0"/>
              </a:rPr>
              <a:t> Controller broadcasts the transactions &amp; predictions to the Web UI using </a:t>
            </a:r>
            <a:r>
              <a:rPr lang="en-US" dirty="0" err="1">
                <a:latin typeface="Arial" pitchFamily="34" charset="0"/>
                <a:cs typeface="Arial" pitchFamily="34" charset="0"/>
              </a:rPr>
              <a:t>WebSocket</a:t>
            </a:r>
            <a:r>
              <a:rPr lang="en-US" dirty="0">
                <a:latin typeface="Arial" pitchFamily="34" charset="0"/>
                <a:cs typeface="Arial" pitchFamily="34" charset="0"/>
              </a:rPr>
              <a:t>(/topic/transaction) </a:t>
            </a:r>
          </a:p>
          <a:p>
            <a:r>
              <a:rPr lang="en-US" b="1" dirty="0">
                <a:latin typeface="Arial" pitchFamily="34" charset="0"/>
                <a:cs typeface="Arial" pitchFamily="34" charset="0"/>
              </a:rPr>
              <a:t>Step 8</a:t>
            </a:r>
            <a:r>
              <a:rPr lang="en-US" dirty="0">
                <a:latin typeface="Arial" pitchFamily="34" charset="0"/>
                <a:cs typeface="Arial" pitchFamily="34" charset="0"/>
              </a:rPr>
              <a:t>: The HTML connects to /fraud-</a:t>
            </a:r>
            <a:r>
              <a:rPr lang="en-US" dirty="0" err="1">
                <a:latin typeface="Arial" pitchFamily="34" charset="0"/>
                <a:cs typeface="Arial" pitchFamily="34" charset="0"/>
              </a:rPr>
              <a:t>websocket</a:t>
            </a:r>
            <a:r>
              <a:rPr lang="en-US" dirty="0">
                <a:latin typeface="Arial" pitchFamily="34" charset="0"/>
                <a:cs typeface="Arial" pitchFamily="34" charset="0"/>
              </a:rPr>
              <a:t>. It listens to /topic/transactions. When the message is received, it renders the Transaction details, Prediction and Probability</a:t>
            </a:r>
          </a:p>
        </p:txBody>
      </p:sp>
    </p:spTree>
    <p:extLst>
      <p:ext uri="{BB962C8B-B14F-4D97-AF65-F5344CB8AC3E}">
        <p14:creationId xmlns:p14="http://schemas.microsoft.com/office/powerpoint/2010/main" val="3099380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A39C-C4E6-442F-1907-DA5495313FA4}"/>
              </a:ext>
            </a:extLst>
          </p:cNvPr>
          <p:cNvSpPr>
            <a:spLocks noGrp="1"/>
          </p:cNvSpPr>
          <p:nvPr>
            <p:ph type="title"/>
          </p:nvPr>
        </p:nvSpPr>
        <p:spPr/>
        <p:txBody>
          <a:bodyPr/>
          <a:lstStyle/>
          <a:p>
            <a:r>
              <a:rPr lang="en-IN" dirty="0"/>
              <a:t>OUTPUT</a:t>
            </a:r>
          </a:p>
        </p:txBody>
      </p:sp>
      <p:pic>
        <p:nvPicPr>
          <p:cNvPr id="5" name="Content Placeholder 4">
            <a:extLst>
              <a:ext uri="{FF2B5EF4-FFF2-40B4-BE49-F238E27FC236}">
                <a16:creationId xmlns:a16="http://schemas.microsoft.com/office/drawing/2014/main" id="{FA6830B8-D93D-4ABD-FD91-61FAFAD0A5D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35635" y="1527175"/>
            <a:ext cx="8436218" cy="4572000"/>
          </a:xfrm>
        </p:spPr>
      </p:pic>
    </p:spTree>
    <p:extLst>
      <p:ext uri="{BB962C8B-B14F-4D97-AF65-F5344CB8AC3E}">
        <p14:creationId xmlns:p14="http://schemas.microsoft.com/office/powerpoint/2010/main" val="1665184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AAE47-44A1-0079-0C5D-FDA456BBD67C}"/>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5AF0742F-A1D1-114A-8C77-CB1B54D76AC4}"/>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27507" y="1527175"/>
            <a:ext cx="8452473" cy="4572000"/>
          </a:xfrm>
        </p:spPr>
      </p:pic>
    </p:spTree>
    <p:extLst>
      <p:ext uri="{BB962C8B-B14F-4D97-AF65-F5344CB8AC3E}">
        <p14:creationId xmlns:p14="http://schemas.microsoft.com/office/powerpoint/2010/main" val="2358989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EA7BC-E65A-92AF-A6E2-573693097292}"/>
              </a:ext>
            </a:extLst>
          </p:cNvPr>
          <p:cNvSpPr>
            <a:spLocks noGrp="1"/>
          </p:cNvSpPr>
          <p:nvPr>
            <p:ph type="title"/>
          </p:nvPr>
        </p:nvSpPr>
        <p:spPr/>
        <p:txBody>
          <a:bodyPr/>
          <a:lstStyle/>
          <a:p>
            <a:r>
              <a:rPr lang="en-IN" dirty="0"/>
              <a:t>AI AGENT RESPONSE</a:t>
            </a:r>
          </a:p>
        </p:txBody>
      </p:sp>
      <p:pic>
        <p:nvPicPr>
          <p:cNvPr id="5" name="Content Placeholder 4">
            <a:extLst>
              <a:ext uri="{FF2B5EF4-FFF2-40B4-BE49-F238E27FC236}">
                <a16:creationId xmlns:a16="http://schemas.microsoft.com/office/drawing/2014/main" id="{B50544BC-5C91-5455-0C7F-CA2E080A455E}"/>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11477" y="1527175"/>
            <a:ext cx="8484534" cy="4572000"/>
          </a:xfrm>
        </p:spPr>
      </p:pic>
    </p:spTree>
    <p:extLst>
      <p:ext uri="{BB962C8B-B14F-4D97-AF65-F5344CB8AC3E}">
        <p14:creationId xmlns:p14="http://schemas.microsoft.com/office/powerpoint/2010/main" val="2874650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141D6-8598-A50B-0899-552235A3135D}"/>
              </a:ext>
            </a:extLst>
          </p:cNvPr>
          <p:cNvSpPr>
            <a:spLocks noGrp="1"/>
          </p:cNvSpPr>
          <p:nvPr>
            <p:ph type="title"/>
          </p:nvPr>
        </p:nvSpPr>
        <p:spPr/>
        <p:txBody>
          <a:bodyPr>
            <a:normAutofit fontScale="90000"/>
          </a:bodyPr>
          <a:lstStyle/>
          <a:p>
            <a:r>
              <a:rPr lang="en-IN" dirty="0"/>
              <a:t>CLIENT RECEIVING RESPONSE/ALERTED</a:t>
            </a:r>
          </a:p>
        </p:txBody>
      </p:sp>
      <p:pic>
        <p:nvPicPr>
          <p:cNvPr id="5" name="Content Placeholder 4">
            <a:extLst>
              <a:ext uri="{FF2B5EF4-FFF2-40B4-BE49-F238E27FC236}">
                <a16:creationId xmlns:a16="http://schemas.microsoft.com/office/drawing/2014/main" id="{A6E26830-BD3C-1A1B-1436-BF4DD8FB3B86}"/>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01625" y="1530902"/>
            <a:ext cx="8504238" cy="4564546"/>
          </a:xfrm>
        </p:spPr>
      </p:pic>
    </p:spTree>
    <p:extLst>
      <p:ext uri="{BB962C8B-B14F-4D97-AF65-F5344CB8AC3E}">
        <p14:creationId xmlns:p14="http://schemas.microsoft.com/office/powerpoint/2010/main" val="410254060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81</TotalTime>
  <Words>572</Words>
  <Application>Microsoft Office PowerPoint</Application>
  <PresentationFormat>On-screen Show (4:3)</PresentationFormat>
  <Paragraphs>43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Georgia</vt:lpstr>
      <vt:lpstr>Wingdings</vt:lpstr>
      <vt:lpstr>Wingdings 2</vt:lpstr>
      <vt:lpstr>Civic</vt:lpstr>
      <vt:lpstr>Reactive AI Agent for Fraud Detection</vt:lpstr>
      <vt:lpstr>Introduction</vt:lpstr>
      <vt:lpstr>Project Goal</vt:lpstr>
      <vt:lpstr> Components</vt:lpstr>
      <vt:lpstr> Components</vt:lpstr>
      <vt:lpstr>SYSTEM ARCHITECTURE</vt:lpstr>
      <vt:lpstr>WORKFLOW</vt:lpstr>
      <vt:lpstr>WORKFLOW</vt:lpstr>
      <vt:lpstr>OUTPUT</vt:lpstr>
      <vt:lpstr>PowerPoint Presentation</vt:lpstr>
      <vt:lpstr>AI AGENT RESPONSE</vt:lpstr>
      <vt:lpstr>CLIENT RECEIVING RESPONSE/ALERTED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Reactive AI Agent for Fraud Detection</dc:title>
  <dc:creator>LENOVO</dc:creator>
  <cp:lastModifiedBy>Hami Yasir</cp:lastModifiedBy>
  <cp:revision>7</cp:revision>
  <dcterms:created xsi:type="dcterms:W3CDTF">2025-04-16T06:09:02Z</dcterms:created>
  <dcterms:modified xsi:type="dcterms:W3CDTF">2025-04-16T08:40:49Z</dcterms:modified>
</cp:coreProperties>
</file>